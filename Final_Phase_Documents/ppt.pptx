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1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44892" y="365442"/>
            <a:ext cx="1937385" cy="448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17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17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17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17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09625" y="885824"/>
            <a:ext cx="10668000" cy="57150"/>
          </a:xfrm>
          <a:custGeom>
            <a:avLst/>
            <a:gdLst/>
            <a:ahLst/>
            <a:cxnLst/>
            <a:rect l="l" t="t" r="r" b="b"/>
            <a:pathLst>
              <a:path w="10668000" h="57150">
                <a:moveTo>
                  <a:pt x="10668000" y="45720"/>
                </a:moveTo>
                <a:lnTo>
                  <a:pt x="0" y="45720"/>
                </a:lnTo>
                <a:lnTo>
                  <a:pt x="0" y="57150"/>
                </a:lnTo>
                <a:lnTo>
                  <a:pt x="10668000" y="57150"/>
                </a:lnTo>
                <a:lnTo>
                  <a:pt x="10668000" y="45720"/>
                </a:lnTo>
                <a:close/>
              </a:path>
              <a:path w="10668000" h="57150">
                <a:moveTo>
                  <a:pt x="10668000" y="0"/>
                </a:moveTo>
                <a:lnTo>
                  <a:pt x="0" y="0"/>
                </a:lnTo>
                <a:lnTo>
                  <a:pt x="0" y="34290"/>
                </a:lnTo>
                <a:lnTo>
                  <a:pt x="10668000" y="34290"/>
                </a:lnTo>
                <a:lnTo>
                  <a:pt x="1066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991224"/>
            <a:ext cx="12191999" cy="8667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1375" y="34861"/>
            <a:ext cx="6050915" cy="779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17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2175" y="1311528"/>
            <a:ext cx="1015111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hashidharReddyD/4th_Year_Major_Project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kahoot.com/blog/" TargetMode="External"/><Relationship Id="rId2" Type="http://schemas.openxmlformats.org/officeDocument/2006/relationships/hyperlink" Target="https://scratch.mit.edu/educators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9950" y="1252537"/>
            <a:ext cx="10643235" cy="11951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547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mbria"/>
                <a:cs typeface="Cambria"/>
              </a:rPr>
              <a:t>Interactive</a:t>
            </a:r>
            <a:r>
              <a:rPr sz="2400" b="1" spc="-4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Software</a:t>
            </a:r>
            <a:r>
              <a:rPr sz="2400" b="1" spc="-4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Tool</a:t>
            </a:r>
            <a:r>
              <a:rPr sz="2400" b="1" spc="-4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for</a:t>
            </a:r>
            <a:r>
              <a:rPr sz="2400" b="1" spc="-10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Primary</a:t>
            </a:r>
            <a:r>
              <a:rPr sz="2400" b="1" spc="-4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School</a:t>
            </a:r>
            <a:r>
              <a:rPr sz="2400" b="1" spc="-4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Students</a:t>
            </a:r>
            <a:r>
              <a:rPr sz="2400" b="1" spc="-95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(PSCS_662)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330"/>
              </a:spcBef>
            </a:pPr>
            <a:endParaRPr sz="2400" dirty="0">
              <a:latin typeface="Cambria"/>
              <a:cs typeface="Cambria"/>
            </a:endParaRPr>
          </a:p>
          <a:p>
            <a:pPr marL="12700" algn="ctr">
              <a:lnSpc>
                <a:spcPct val="100000"/>
              </a:lnSpc>
            </a:pPr>
            <a:r>
              <a:rPr sz="1800" b="1" dirty="0">
                <a:solidFill>
                  <a:srgbClr val="17365D"/>
                </a:solidFill>
                <a:latin typeface="Cambria"/>
                <a:cs typeface="Cambria"/>
              </a:rPr>
              <a:t>Batch</a:t>
            </a:r>
            <a:r>
              <a:rPr sz="1800" b="1" spc="-7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7365D"/>
                </a:solidFill>
                <a:latin typeface="Cambria"/>
                <a:cs typeface="Cambria"/>
              </a:rPr>
              <a:t>Number:</a:t>
            </a:r>
            <a:r>
              <a:rPr sz="1800" b="1" spc="409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7365D"/>
                </a:solidFill>
                <a:latin typeface="Cambria"/>
                <a:cs typeface="Cambria"/>
              </a:rPr>
              <a:t>CSE</a:t>
            </a:r>
            <a:r>
              <a:rPr sz="1800" b="1" spc="-2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17365D"/>
                </a:solidFill>
                <a:latin typeface="Cambria"/>
                <a:cs typeface="Cambria"/>
              </a:rPr>
              <a:t>-</a:t>
            </a:r>
            <a:r>
              <a:rPr sz="1800" b="1" spc="-25" dirty="0" smtClean="0">
                <a:solidFill>
                  <a:srgbClr val="17365D"/>
                </a:solidFill>
                <a:latin typeface="Cambria"/>
                <a:cs typeface="Cambria"/>
              </a:rPr>
              <a:t>05</a:t>
            </a:r>
            <a:endParaRPr sz="1800" dirty="0" smtClean="0">
              <a:latin typeface="Cambria"/>
              <a:cs typeface="Cambri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3164442"/>
              </p:ext>
            </p:extLst>
          </p:nvPr>
        </p:nvGraphicFramePr>
        <p:xfrm>
          <a:off x="596265" y="2878962"/>
          <a:ext cx="5166995" cy="1365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5975"/>
                <a:gridCol w="3081020"/>
              </a:tblGrid>
              <a:tr h="322580">
                <a:tc>
                  <a:txBody>
                    <a:bodyPr/>
                    <a:lstStyle/>
                    <a:p>
                      <a:pPr marR="255270" algn="ctr">
                        <a:lnSpc>
                          <a:spcPts val="2055"/>
                        </a:lnSpc>
                      </a:pPr>
                      <a:r>
                        <a:rPr sz="1800" b="1" spc="105" dirty="0">
                          <a:solidFill>
                            <a:srgbClr val="17365D"/>
                          </a:solidFill>
                          <a:latin typeface="Cambria"/>
                          <a:cs typeface="Cambria"/>
                        </a:rPr>
                        <a:t>Roll</a:t>
                      </a:r>
                      <a:r>
                        <a:rPr sz="1800" b="1" spc="210" dirty="0">
                          <a:solidFill>
                            <a:srgbClr val="17365D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70" dirty="0">
                          <a:solidFill>
                            <a:srgbClr val="17365D"/>
                          </a:solidFill>
                          <a:latin typeface="Cambria"/>
                          <a:cs typeface="Cambria"/>
                        </a:rPr>
                        <a:t>Number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0350" algn="ctr">
                        <a:lnSpc>
                          <a:spcPts val="2055"/>
                        </a:lnSpc>
                      </a:pPr>
                      <a:r>
                        <a:rPr sz="1800" b="1" spc="130" dirty="0">
                          <a:solidFill>
                            <a:srgbClr val="17365D"/>
                          </a:solidFill>
                          <a:latin typeface="Cambria"/>
                          <a:cs typeface="Cambria"/>
                        </a:rPr>
                        <a:t>Student</a:t>
                      </a:r>
                      <a:r>
                        <a:rPr sz="1800" b="1" spc="305" dirty="0">
                          <a:solidFill>
                            <a:srgbClr val="17365D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70" dirty="0">
                          <a:solidFill>
                            <a:srgbClr val="17365D"/>
                          </a:solidFill>
                          <a:latin typeface="Cambria"/>
                          <a:cs typeface="Cambria"/>
                        </a:rPr>
                        <a:t>Name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</a:tr>
              <a:tr h="365760">
                <a:tc>
                  <a:txBody>
                    <a:bodyPr/>
                    <a:lstStyle/>
                    <a:p>
                      <a:pPr marR="255904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1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20221CSE0364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26352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SHASHIDHAR</a:t>
                      </a:r>
                      <a:r>
                        <a:rPr sz="1800" spc="26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800" spc="60" dirty="0">
                          <a:latin typeface="Georgia"/>
                          <a:cs typeface="Georgia"/>
                        </a:rPr>
                        <a:t>REDDY</a:t>
                      </a:r>
                      <a:r>
                        <a:rPr sz="1800" spc="254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800" spc="30" dirty="0">
                          <a:latin typeface="Georgia"/>
                          <a:cs typeface="Georgia"/>
                        </a:rPr>
                        <a:t>D</a:t>
                      </a:r>
                      <a:endParaRPr sz="1800" dirty="0">
                        <a:latin typeface="Georgia"/>
                        <a:cs typeface="Georgia"/>
                      </a:endParaRPr>
                    </a:p>
                  </a:txBody>
                  <a:tcPr marL="0" marR="0" marT="30480" marB="0"/>
                </a:tc>
              </a:tr>
              <a:tr h="365760">
                <a:tc>
                  <a:txBody>
                    <a:bodyPr/>
                    <a:lstStyle/>
                    <a:p>
                      <a:pPr marR="255904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1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20221CSE0108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26352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Georgia"/>
                          <a:cs typeface="Georgia"/>
                        </a:rPr>
                        <a:t>AKSHAYA</a:t>
                      </a:r>
                      <a:r>
                        <a:rPr sz="1800" spc="33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800" spc="75" dirty="0">
                          <a:latin typeface="Georgia"/>
                          <a:cs typeface="Georgia"/>
                        </a:rPr>
                        <a:t>SR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30480" marB="0"/>
                </a:tc>
              </a:tr>
              <a:tr h="311785">
                <a:tc>
                  <a:txBody>
                    <a:bodyPr/>
                    <a:lstStyle/>
                    <a:p>
                      <a:pPr marR="255904" algn="ctr">
                        <a:lnSpc>
                          <a:spcPts val="2115"/>
                        </a:lnSpc>
                        <a:spcBef>
                          <a:spcPts val="240"/>
                        </a:spcBef>
                      </a:pPr>
                      <a:r>
                        <a:rPr sz="1800" spc="1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20221CSE0311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264795" algn="ctr">
                        <a:lnSpc>
                          <a:spcPts val="2115"/>
                        </a:lnSpc>
                        <a:spcBef>
                          <a:spcPts val="240"/>
                        </a:spcBef>
                      </a:pPr>
                      <a:r>
                        <a:rPr sz="1800" spc="55" dirty="0">
                          <a:latin typeface="Georgia"/>
                          <a:cs typeface="Georgia"/>
                        </a:rPr>
                        <a:t>AMOG</a:t>
                      </a:r>
                      <a:r>
                        <a:rPr sz="1800" spc="7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800" spc="120" dirty="0">
                          <a:latin typeface="Georgia"/>
                          <a:cs typeface="Georgia"/>
                        </a:rPr>
                        <a:t>S</a:t>
                      </a:r>
                      <a:endParaRPr sz="1800" dirty="0">
                        <a:latin typeface="Georgia"/>
                        <a:cs typeface="Georgia"/>
                      </a:endParaRPr>
                    </a:p>
                  </a:txBody>
                  <a:tcPr marL="0" marR="0" marT="30480" marB="0"/>
                </a:tc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59250" y="119697"/>
            <a:ext cx="2853690" cy="6227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6625" marR="5080" indent="-923925">
              <a:lnSpc>
                <a:spcPct val="114799"/>
              </a:lnSpc>
              <a:spcBef>
                <a:spcPts val="100"/>
              </a:spcBef>
            </a:pPr>
            <a:r>
              <a:rPr sz="1800" dirty="0"/>
              <a:t>CSE7101-</a:t>
            </a:r>
            <a:r>
              <a:rPr sz="1800" spc="-45" dirty="0"/>
              <a:t> </a:t>
            </a:r>
            <a:r>
              <a:rPr sz="1800" dirty="0"/>
              <a:t>Capstone</a:t>
            </a:r>
            <a:r>
              <a:rPr sz="1800" spc="-55" dirty="0"/>
              <a:t> </a:t>
            </a:r>
            <a:r>
              <a:rPr sz="1800" spc="-10" dirty="0"/>
              <a:t>Project </a:t>
            </a:r>
            <a:r>
              <a:rPr sz="1800" spc="-10" dirty="0" smtClean="0"/>
              <a:t>Review</a:t>
            </a:r>
            <a:r>
              <a:rPr lang="en-GB" sz="1800" spc="-10" dirty="0" smtClean="0"/>
              <a:t> -3</a:t>
            </a:r>
            <a:endParaRPr sz="1800" dirty="0"/>
          </a:p>
        </p:txBody>
      </p:sp>
      <p:sp>
        <p:nvSpPr>
          <p:cNvPr id="5" name="object 5"/>
          <p:cNvSpPr txBox="1"/>
          <p:nvPr/>
        </p:nvSpPr>
        <p:spPr>
          <a:xfrm>
            <a:off x="757872" y="4853622"/>
            <a:ext cx="8367395" cy="1130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Name</a:t>
            </a:r>
            <a:r>
              <a:rPr sz="1800" b="1" spc="-1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sz="1800" b="1" spc="-1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sz="1800" b="1" spc="-1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Program:</a:t>
            </a:r>
            <a:r>
              <a:rPr sz="1800" b="1" spc="-5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B.TECH(CSE)</a:t>
            </a:r>
            <a:endParaRPr sz="1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Name</a:t>
            </a:r>
            <a:r>
              <a:rPr sz="1800" b="1" spc="-2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sz="1800" b="1" spc="-2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sz="1800" b="1" spc="-2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HoD: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Dr.</a:t>
            </a: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Asif</a:t>
            </a:r>
            <a:r>
              <a:rPr sz="1800" b="1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Mohammed</a:t>
            </a:r>
            <a:r>
              <a:rPr sz="1800" b="1" spc="-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,</a:t>
            </a: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Dr.</a:t>
            </a: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mbria"/>
                <a:cs typeface="Cambria"/>
              </a:rPr>
              <a:t>Blessed</a:t>
            </a:r>
            <a:r>
              <a:rPr sz="1800" b="1" spc="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mbria"/>
                <a:cs typeface="Cambria"/>
              </a:rPr>
              <a:t>Prince</a:t>
            </a:r>
            <a:endParaRPr sz="1800" dirty="0">
              <a:latin typeface="Cambria"/>
              <a:cs typeface="Cambria"/>
            </a:endParaRPr>
          </a:p>
          <a:p>
            <a:pPr marL="12700" marR="5080">
              <a:lnSpc>
                <a:spcPts val="2180"/>
              </a:lnSpc>
              <a:spcBef>
                <a:spcPts val="70"/>
              </a:spcBef>
            </a:pP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Name</a:t>
            </a:r>
            <a:r>
              <a:rPr sz="1800" b="1" spc="-2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sz="1800" b="1" spc="-2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sz="1800" b="1" spc="-2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Program</a:t>
            </a:r>
            <a:r>
              <a:rPr sz="1800" b="1" spc="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Project</a:t>
            </a:r>
            <a:r>
              <a:rPr sz="1800" b="1" spc="-2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Coordinator:</a:t>
            </a:r>
            <a:r>
              <a:rPr sz="1800" b="1" spc="30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Dr.</a:t>
            </a:r>
            <a:r>
              <a:rPr sz="1800" b="1" spc="-1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Jayavadivel Ravi</a:t>
            </a:r>
            <a:r>
              <a:rPr sz="1800" b="1" spc="-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,</a:t>
            </a:r>
            <a:r>
              <a:rPr sz="1800" b="1" spc="-1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Mr.</a:t>
            </a:r>
            <a:r>
              <a:rPr sz="1800" b="1" spc="-1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Muniraja</a:t>
            </a:r>
            <a:r>
              <a:rPr sz="1800" b="1" spc="-25" dirty="0">
                <a:latin typeface="Cambria"/>
                <a:cs typeface="Cambria"/>
              </a:rPr>
              <a:t> </a:t>
            </a:r>
            <a:r>
              <a:rPr sz="1800" b="1" spc="-50" dirty="0">
                <a:latin typeface="Cambria"/>
                <a:cs typeface="Cambria"/>
              </a:rPr>
              <a:t>V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Name</a:t>
            </a:r>
            <a:r>
              <a:rPr sz="1800" b="1" spc="-2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sz="1800" b="1" spc="-2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sz="1800" b="1" spc="-2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School</a:t>
            </a:r>
            <a:r>
              <a:rPr sz="1800" b="1" spc="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Project</a:t>
            </a:r>
            <a:r>
              <a:rPr sz="1800" b="1" spc="-2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Coordinators:</a:t>
            </a:r>
            <a:r>
              <a:rPr sz="1800" b="1" spc="-4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Dr.</a:t>
            </a:r>
            <a:r>
              <a:rPr sz="1800" b="1" spc="-1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Sampath</a:t>
            </a:r>
            <a:r>
              <a:rPr sz="1800" b="1" spc="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A</a:t>
            </a:r>
            <a:r>
              <a:rPr sz="1800" b="1" spc="-2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K</a:t>
            </a:r>
            <a:r>
              <a:rPr sz="1800" b="1" spc="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,</a:t>
            </a:r>
            <a:r>
              <a:rPr sz="1800" b="1" spc="-8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Dr.</a:t>
            </a:r>
            <a:r>
              <a:rPr sz="1800" b="1" spc="-1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Geetha</a:t>
            </a:r>
            <a:r>
              <a:rPr sz="1800" b="1" spc="-30" dirty="0">
                <a:latin typeface="Cambria"/>
                <a:cs typeface="Cambria"/>
              </a:rPr>
              <a:t> </a:t>
            </a:r>
            <a:r>
              <a:rPr sz="1800" b="1" spc="-50" dirty="0">
                <a:latin typeface="Cambria"/>
                <a:cs typeface="Cambria"/>
              </a:rPr>
              <a:t>A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77000" y="2888679"/>
            <a:ext cx="45002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Supervision of,</a:t>
            </a:r>
          </a:p>
          <a:p>
            <a:r>
              <a:rPr lang="en-GB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GB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Pamela </a:t>
            </a:r>
            <a:r>
              <a:rPr lang="en-GB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Vinitha</a:t>
            </a:r>
            <a:r>
              <a:rPr lang="en-GB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Eric professor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541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</a:pPr>
            <a:r>
              <a:rPr dirty="0"/>
              <a:t>Problem</a:t>
            </a:r>
            <a:r>
              <a:rPr spc="95" dirty="0"/>
              <a:t> </a:t>
            </a:r>
            <a:r>
              <a:rPr spc="-10" dirty="0"/>
              <a:t>Statement: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2822" y="1734502"/>
            <a:ext cx="9911715" cy="19550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325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"/>
                <a:cs typeface="Cambria"/>
              </a:rPr>
              <a:t>Category</a:t>
            </a:r>
            <a:r>
              <a:rPr sz="2400" spc="44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(Software)</a:t>
            </a:r>
            <a:endParaRPr sz="2400" dirty="0">
              <a:latin typeface="Cambria"/>
              <a:cs typeface="Cambria"/>
            </a:endParaRPr>
          </a:p>
          <a:p>
            <a:pPr marL="12700" marR="5080" algn="just">
              <a:lnSpc>
                <a:spcPct val="205900"/>
              </a:lnSpc>
              <a:spcBef>
                <a:spcPts val="359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sz="1600"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</a:t>
            </a:r>
            <a:r>
              <a:rPr sz="16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  <a:r>
              <a:rPr sz="1600" spc="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</a:t>
            </a:r>
            <a:r>
              <a:rPr sz="1600"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difficulties</a:t>
            </a:r>
            <a:r>
              <a:rPr sz="1600" spc="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</a:t>
            </a:r>
            <a:r>
              <a:rPr sz="16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sz="1600" spc="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</a:t>
            </a:r>
            <a:r>
              <a:rPr sz="1600"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schedules,</a:t>
            </a:r>
            <a:r>
              <a:rPr sz="16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assessments,</a:t>
            </a:r>
            <a:r>
              <a:rPr sz="16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accessing</a:t>
            </a:r>
            <a:r>
              <a:rPr sz="16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recorded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  <a:r>
              <a:rPr sz="16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6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streamlined</a:t>
            </a:r>
            <a:r>
              <a:rPr sz="16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manner.</a:t>
            </a:r>
            <a:r>
              <a:rPr sz="16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Teachers</a:t>
            </a:r>
            <a:r>
              <a:rPr sz="16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admins</a:t>
            </a:r>
            <a:r>
              <a:rPr sz="16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</a:t>
            </a:r>
            <a:r>
              <a:rPr sz="16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</a:t>
            </a:r>
            <a:r>
              <a:rPr sz="16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</a:t>
            </a:r>
            <a:r>
              <a:rPr sz="16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6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efficiently</a:t>
            </a:r>
            <a:r>
              <a:rPr sz="16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</a:t>
            </a:r>
            <a:r>
              <a:rPr sz="16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r>
              <a:rPr sz="16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deadlines.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541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1212" y="1644332"/>
            <a:ext cx="10397490" cy="265893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93700" marR="5080" indent="-333375">
              <a:lnSpc>
                <a:spcPct val="102400"/>
              </a:lnSpc>
              <a:spcBef>
                <a:spcPts val="55"/>
              </a:spcBef>
              <a:buSzPct val="93939"/>
              <a:buChar char="•"/>
              <a:tabLst>
                <a:tab pos="393700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</a:t>
            </a:r>
            <a:r>
              <a:rPr sz="1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1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</a:t>
            </a:r>
            <a:r>
              <a:rPr sz="16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</a:t>
            </a:r>
            <a:r>
              <a:rPr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  <a:r>
              <a:rPr sz="16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sz="16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timetables, assessments,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recorded</a:t>
            </a:r>
            <a:r>
              <a:rPr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classes,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</a:t>
            </a:r>
            <a:r>
              <a:rPr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90"/>
              </a:spcBef>
              <a:buFont typeface="Cambria"/>
              <a:buChar char="•"/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700" indent="-333375">
              <a:lnSpc>
                <a:spcPct val="100000"/>
              </a:lnSpc>
              <a:buSzPct val="93939"/>
              <a:buChar char="•"/>
              <a:tabLst>
                <a:tab pos="393700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</a:t>
            </a:r>
            <a:r>
              <a:rPr sz="16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admin/teachers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</a:t>
            </a:r>
            <a:r>
              <a:rPr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schedules,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assessments,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sz="16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15"/>
              </a:spcBef>
              <a:buFont typeface="Cambria"/>
              <a:buChar char="•"/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700" indent="-333375">
              <a:lnSpc>
                <a:spcPct val="100000"/>
              </a:lnSpc>
              <a:spcBef>
                <a:spcPts val="5"/>
              </a:spcBef>
              <a:buSzPct val="93939"/>
              <a:buChar char="•"/>
              <a:tabLst>
                <a:tab pos="393700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</a:t>
            </a:r>
            <a:r>
              <a:rPr sz="16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sz="16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  <a:r>
              <a:rPr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types: Admin</a:t>
            </a:r>
            <a:r>
              <a:rPr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Student,</a:t>
            </a:r>
            <a:r>
              <a:rPr sz="16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85"/>
              </a:spcBef>
              <a:buFont typeface="Cambria"/>
              <a:buChar char="•"/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700" indent="-333375">
              <a:lnSpc>
                <a:spcPct val="100000"/>
              </a:lnSpc>
              <a:spcBef>
                <a:spcPts val="5"/>
              </a:spcBef>
              <a:buSzPct val="93939"/>
              <a:buChar char="•"/>
              <a:tabLst>
                <a:tab pos="393700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6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communicate</a:t>
            </a:r>
            <a:r>
              <a:rPr sz="1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teachers.</a:t>
            </a:r>
            <a:endParaRPr lang="en-GB" sz="1600" spc="-1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325">
              <a:lnSpc>
                <a:spcPct val="100000"/>
              </a:lnSpc>
              <a:spcBef>
                <a:spcPts val="5"/>
              </a:spcBef>
              <a:buSzPct val="93939"/>
              <a:tabLst>
                <a:tab pos="393700" algn="l"/>
              </a:tabLst>
            </a:pP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700" indent="-333375">
              <a:lnSpc>
                <a:spcPct val="100000"/>
              </a:lnSpc>
              <a:spcBef>
                <a:spcPts val="5"/>
              </a:spcBef>
              <a:buSzPct val="93939"/>
              <a:buChar char="•"/>
              <a:tabLst>
                <a:tab pos="393700" algn="l"/>
              </a:tabLst>
            </a:pPr>
            <a:r>
              <a:rPr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  <a:r>
              <a:rPr sz="1600" spc="-4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expansion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541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</a:pPr>
            <a:r>
              <a:rPr dirty="0"/>
              <a:t>Background</a:t>
            </a:r>
            <a:r>
              <a:rPr spc="130" dirty="0"/>
              <a:t> </a:t>
            </a:r>
            <a:r>
              <a:rPr dirty="0"/>
              <a:t>and</a:t>
            </a:r>
            <a:r>
              <a:rPr spc="130" dirty="0"/>
              <a:t> </a:t>
            </a:r>
            <a:r>
              <a:rPr dirty="0"/>
              <a:t>Related</a:t>
            </a:r>
            <a:r>
              <a:rPr spc="130" dirty="0"/>
              <a:t> </a:t>
            </a:r>
            <a:r>
              <a:rPr spc="-20" dirty="0"/>
              <a:t>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2330" y="1644332"/>
            <a:ext cx="10386060" cy="171136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42265" indent="-329565">
              <a:lnSpc>
                <a:spcPct val="100000"/>
              </a:lnSpc>
              <a:spcBef>
                <a:spcPts val="125"/>
              </a:spcBef>
              <a:buChar char="•"/>
              <a:tabLst>
                <a:tab pos="342265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  <a:r>
              <a:rPr sz="1600" spc="4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</a:t>
            </a:r>
            <a:r>
              <a:rPr sz="1600" spc="4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platforms</a:t>
            </a:r>
            <a:r>
              <a:rPr sz="1600" spc="4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</a:t>
            </a:r>
            <a:r>
              <a:rPr sz="1600" spc="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600" spc="4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either</a:t>
            </a:r>
            <a:r>
              <a:rPr sz="1600" spc="4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administration</a:t>
            </a:r>
            <a:r>
              <a:rPr sz="1600" spc="4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1600" spc="4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sz="1600" spc="4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engagement</a:t>
            </a:r>
            <a:r>
              <a:rPr sz="1600" spc="4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sz="1600" spc="3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rarely</a:t>
            </a:r>
            <a:r>
              <a:rPr sz="1600" spc="4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</a:t>
            </a:r>
            <a:r>
              <a:rPr sz="1600" spc="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Cambria"/>
              <a:buChar char="•"/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>
              <a:lnSpc>
                <a:spcPct val="100000"/>
              </a:lnSpc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effectively</a:t>
            </a:r>
            <a:r>
              <a:rPr sz="16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6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sz="16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265" indent="-329565">
              <a:lnSpc>
                <a:spcPct val="100000"/>
              </a:lnSpc>
              <a:buChar char="•"/>
              <a:tabLst>
                <a:tab pos="342265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</a:t>
            </a:r>
            <a:r>
              <a:rPr sz="16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sz="16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</a:t>
            </a:r>
            <a:r>
              <a:rPr sz="16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</a:t>
            </a:r>
            <a:r>
              <a:rPr sz="16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mechanisms</a:t>
            </a:r>
            <a:r>
              <a:rPr sz="16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1600" spc="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</a:t>
            </a:r>
            <a:r>
              <a:rPr sz="16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sz="16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265" indent="-329565">
              <a:lnSpc>
                <a:spcPct val="100000"/>
              </a:lnSpc>
              <a:spcBef>
                <a:spcPts val="1745"/>
              </a:spcBef>
              <a:buChar char="•"/>
              <a:tabLst>
                <a:tab pos="342265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</a:t>
            </a:r>
            <a:r>
              <a:rPr sz="16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</a:t>
            </a:r>
            <a:r>
              <a:rPr sz="16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aims</a:t>
            </a:r>
            <a:r>
              <a:rPr sz="16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6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</a:t>
            </a:r>
            <a:r>
              <a:rPr sz="16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sz="16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sz="16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sz="16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6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</a:t>
            </a:r>
            <a:r>
              <a:rPr sz="16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way,</a:t>
            </a:r>
            <a:r>
              <a:rPr sz="16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tailored</a:t>
            </a:r>
            <a:r>
              <a:rPr sz="16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6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sz="16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</a:t>
            </a:r>
            <a:r>
              <a:rPr sz="16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455" rIns="0" bIns="0" rtlCol="0">
            <a:spAutoFit/>
          </a:bodyPr>
          <a:lstStyle/>
          <a:p>
            <a:pPr marL="215900">
              <a:lnSpc>
                <a:spcPct val="100000"/>
              </a:lnSpc>
              <a:spcBef>
                <a:spcPts val="125"/>
              </a:spcBef>
            </a:pPr>
            <a:r>
              <a:rPr dirty="0"/>
              <a:t>Technology</a:t>
            </a:r>
            <a:r>
              <a:rPr spc="145" dirty="0"/>
              <a:t> </a:t>
            </a:r>
            <a:r>
              <a:rPr dirty="0"/>
              <a:t>Stack</a:t>
            </a:r>
            <a:r>
              <a:rPr spc="130" dirty="0"/>
              <a:t> </a:t>
            </a:r>
            <a:r>
              <a:rPr spc="-10" dirty="0"/>
              <a:t>Components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95400" y="1752600"/>
            <a:ext cx="9906000" cy="171136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sz="1600" b="1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</a:t>
            </a:r>
            <a:r>
              <a:rPr sz="1600" spc="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CSS,</a:t>
            </a:r>
            <a:r>
              <a:rPr sz="16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JavaScript,</a:t>
            </a:r>
            <a:r>
              <a:rPr sz="16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React.js</a:t>
            </a:r>
            <a:r>
              <a:rPr lang="en-GB" sz="16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GB" sz="1600" spc="-1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TypeScript</a:t>
            </a:r>
            <a:r>
              <a:rPr lang="en-GB" sz="16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GB" sz="1600" spc="-1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Vite</a:t>
            </a:r>
            <a:r>
              <a:rPr lang="en-GB" sz="16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GB" sz="1600" b="1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600" spc="17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XML , </a:t>
            </a:r>
            <a:r>
              <a:rPr lang="en-GB" sz="1600" spc="17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Supabase</a:t>
            </a:r>
            <a:r>
              <a:rPr lang="en-GB" sz="1600" spc="17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Authentication:</a:t>
            </a:r>
            <a:r>
              <a:rPr sz="1600" b="1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</a:t>
            </a:r>
            <a:r>
              <a:rPr sz="16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  <a:r>
              <a:rPr sz="16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6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Admins</a:t>
            </a:r>
            <a:r>
              <a:rPr sz="16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  <a:r>
              <a:rPr sz="16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(based</a:t>
            </a:r>
            <a:r>
              <a:rPr sz="16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6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sz="16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</a:t>
            </a:r>
            <a:r>
              <a:rPr sz="16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</a:t>
            </a:r>
            <a:r>
              <a:rPr sz="16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GB" sz="16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Services:</a:t>
            </a:r>
            <a:r>
              <a:rPr sz="1600" b="1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Timetable,</a:t>
            </a:r>
            <a:r>
              <a:rPr sz="16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Assessments</a:t>
            </a:r>
            <a:r>
              <a:rPr sz="1600"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1600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deadlines,</a:t>
            </a:r>
            <a:r>
              <a:rPr sz="1600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Video lectures , Parental Report , Duel mode AI </a:t>
            </a:r>
            <a:r>
              <a:rPr lang="en-GB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Github</a:t>
            </a:r>
            <a:r>
              <a:rPr spc="105" dirty="0"/>
              <a:t> </a:t>
            </a:r>
            <a:r>
              <a:rPr spc="-20" dirty="0"/>
              <a:t>Link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05000" y="2209800"/>
            <a:ext cx="9144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https://github.com/ShashidharReddyD/4th_Year_Major_Project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455" rIns="0" bIns="0" rtlCol="0">
            <a:spAutoFit/>
          </a:bodyPr>
          <a:lstStyle/>
          <a:p>
            <a:pPr marL="215900">
              <a:lnSpc>
                <a:spcPct val="100000"/>
              </a:lnSpc>
              <a:spcBef>
                <a:spcPts val="125"/>
              </a:spcBef>
            </a:pPr>
            <a:r>
              <a:rPr dirty="0"/>
              <a:t>Analysis</a:t>
            </a:r>
            <a:r>
              <a:rPr spc="60" dirty="0"/>
              <a:t> </a:t>
            </a:r>
            <a:r>
              <a:rPr dirty="0"/>
              <a:t>of</a:t>
            </a:r>
            <a:r>
              <a:rPr spc="70" dirty="0"/>
              <a:t> </a:t>
            </a:r>
            <a:r>
              <a:rPr dirty="0"/>
              <a:t>Problem</a:t>
            </a:r>
            <a:r>
              <a:rPr spc="90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7905" y="2161222"/>
            <a:ext cx="7374890" cy="168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00"/>
              </a:spcBef>
              <a:buSzPct val="93939"/>
              <a:buChar char="•"/>
              <a:tabLst>
                <a:tab pos="389890" algn="l"/>
              </a:tabLst>
            </a:pP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  <a:r>
              <a:rPr sz="16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</a:t>
            </a:r>
            <a:r>
              <a:rPr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</a:t>
            </a:r>
            <a:r>
              <a:rPr sz="1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</a:t>
            </a:r>
            <a:r>
              <a:rPr sz="16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4170" indent="-331470">
              <a:lnSpc>
                <a:spcPct val="100000"/>
              </a:lnSpc>
              <a:spcBef>
                <a:spcPts val="1700"/>
              </a:spcBef>
              <a:buSzPct val="93939"/>
              <a:buChar char="•"/>
              <a:tabLst>
                <a:tab pos="344170" algn="l"/>
              </a:tabLst>
            </a:pP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Admins</a:t>
            </a:r>
            <a:r>
              <a:rPr sz="16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</a:t>
            </a:r>
            <a:r>
              <a:rPr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</a:t>
            </a:r>
            <a:r>
              <a:rPr sz="16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r>
              <a:rPr sz="16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1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oversight.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4170" indent="-331470">
              <a:lnSpc>
                <a:spcPct val="100000"/>
              </a:lnSpc>
              <a:spcBef>
                <a:spcPts val="1700"/>
              </a:spcBef>
              <a:buSzPct val="93939"/>
              <a:buChar char="•"/>
              <a:tabLst>
                <a:tab pos="344170" algn="l"/>
              </a:tabLst>
            </a:pP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Timely</a:t>
            </a:r>
            <a:r>
              <a:rPr sz="16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deadlines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</a:t>
            </a:r>
            <a:r>
              <a:rPr sz="16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  <a:r>
              <a:rPr sz="1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6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4170" indent="-331470">
              <a:lnSpc>
                <a:spcPct val="100000"/>
              </a:lnSpc>
              <a:spcBef>
                <a:spcPts val="1775"/>
              </a:spcBef>
              <a:buSzPct val="93939"/>
              <a:buChar char="•"/>
              <a:tabLst>
                <a:tab pos="344170" algn="l"/>
              </a:tabLst>
            </a:pP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</a:t>
            </a:r>
            <a:r>
              <a:rPr sz="16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45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</a:pPr>
            <a:r>
              <a:rPr dirty="0"/>
              <a:t>Proposed</a:t>
            </a:r>
            <a:r>
              <a:rPr spc="225" dirty="0"/>
              <a:t> </a:t>
            </a:r>
            <a:r>
              <a:rPr spc="-10" dirty="0"/>
              <a:t>Methodology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9175" y="1311528"/>
            <a:ext cx="6984365" cy="25192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42900" indent="-330200">
              <a:lnSpc>
                <a:spcPct val="100000"/>
              </a:lnSpc>
              <a:spcBef>
                <a:spcPts val="125"/>
              </a:spcBef>
              <a:buChar char="•"/>
              <a:tabLst>
                <a:tab pos="342900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sz="16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sz="16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6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sz="16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</a:t>
            </a:r>
            <a:r>
              <a:rPr sz="16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30200">
              <a:lnSpc>
                <a:spcPct val="100000"/>
              </a:lnSpc>
              <a:spcBef>
                <a:spcPts val="1590"/>
              </a:spcBef>
              <a:buChar char="•"/>
              <a:tabLst>
                <a:tab pos="342900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sz="16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sz="16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6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</a:t>
            </a:r>
            <a:r>
              <a:rPr sz="16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sz="16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interactions</a:t>
            </a:r>
            <a:r>
              <a:rPr sz="16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30200">
              <a:lnSpc>
                <a:spcPct val="100000"/>
              </a:lnSpc>
              <a:spcBef>
                <a:spcPts val="1595"/>
              </a:spcBef>
              <a:buChar char="•"/>
              <a:tabLst>
                <a:tab pos="342900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sz="16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6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</a:t>
            </a:r>
            <a:r>
              <a:rPr sz="16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sz="16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  <a:r>
              <a:rPr sz="1600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data,</a:t>
            </a:r>
            <a:r>
              <a:rPr sz="16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schedules,</a:t>
            </a:r>
            <a:r>
              <a:rPr sz="16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assessments,</a:t>
            </a:r>
            <a:r>
              <a:rPr sz="16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30200">
              <a:lnSpc>
                <a:spcPct val="100000"/>
              </a:lnSpc>
              <a:spcBef>
                <a:spcPts val="1595"/>
              </a:spcBef>
              <a:buChar char="•"/>
              <a:tabLst>
                <a:tab pos="342900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</a:t>
            </a:r>
            <a:r>
              <a:rPr sz="16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sz="16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sz="16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</a:t>
            </a:r>
            <a:r>
              <a:rPr sz="1600" spc="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6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segregate</a:t>
            </a:r>
            <a:r>
              <a:rPr sz="1600"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functionalities.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30200">
              <a:lnSpc>
                <a:spcPct val="100000"/>
              </a:lnSpc>
              <a:spcBef>
                <a:spcPts val="1595"/>
              </a:spcBef>
              <a:buChar char="•"/>
              <a:tabLst>
                <a:tab pos="342900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Timetable</a:t>
            </a:r>
            <a:r>
              <a:rPr sz="16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assessments</a:t>
            </a:r>
            <a:r>
              <a:rPr sz="16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updated</a:t>
            </a:r>
            <a:r>
              <a:rPr sz="16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managed</a:t>
            </a:r>
            <a:r>
              <a:rPr sz="16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16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30200">
              <a:lnSpc>
                <a:spcPct val="100000"/>
              </a:lnSpc>
              <a:spcBef>
                <a:spcPts val="1595"/>
              </a:spcBef>
              <a:buChar char="•"/>
              <a:tabLst>
                <a:tab pos="342900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  <a:r>
              <a:rPr sz="16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sz="16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sz="1600" spc="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</a:t>
            </a:r>
            <a:r>
              <a:rPr sz="16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</a:t>
            </a:r>
            <a:r>
              <a:rPr sz="16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dirty="0">
                <a:latin typeface="Arial"/>
                <a:cs typeface="Arial"/>
              </a:rPr>
              <a:t>Innovation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or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Novel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Contributions</a:t>
            </a:r>
            <a:endParaRPr sz="2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9175" y="1423670"/>
            <a:ext cx="9334500" cy="227171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42900" indent="-3302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342900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</a:t>
            </a:r>
            <a:r>
              <a:rPr sz="16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  <a:r>
              <a:rPr sz="16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1600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16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distinct</a:t>
            </a:r>
            <a:r>
              <a:rPr sz="16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roles</a:t>
            </a:r>
            <a:r>
              <a:rPr sz="16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tailored</a:t>
            </a:r>
            <a:r>
              <a:rPr sz="16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6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sz="1600" spc="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Font typeface="Arial MT"/>
              <a:buChar char="•"/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30200">
              <a:lnSpc>
                <a:spcPct val="100000"/>
              </a:lnSpc>
              <a:buFont typeface="Arial MT"/>
              <a:buChar char="•"/>
              <a:tabLst>
                <a:tab pos="342900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</a:t>
            </a:r>
            <a:r>
              <a:rPr sz="1600" spc="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1600" spc="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</a:t>
            </a:r>
            <a:r>
              <a:rPr sz="1600" spc="2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schedules,</a:t>
            </a:r>
            <a:r>
              <a:rPr sz="1600"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assessments,</a:t>
            </a:r>
            <a:r>
              <a:rPr sz="1600"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recorded</a:t>
            </a:r>
            <a:r>
              <a:rPr sz="1600" spc="2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lessons,</a:t>
            </a:r>
            <a:r>
              <a:rPr sz="1600"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Font typeface="Arial MT"/>
              <a:buChar char="•"/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30200">
              <a:lnSpc>
                <a:spcPct val="100000"/>
              </a:lnSpc>
              <a:buFont typeface="Arial MT"/>
              <a:buChar char="•"/>
              <a:tabLst>
                <a:tab pos="342900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</a:t>
            </a:r>
            <a:r>
              <a:rPr sz="16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sz="1600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targeted</a:t>
            </a:r>
            <a:r>
              <a:rPr sz="1600" spc="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z="1600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young</a:t>
            </a:r>
            <a:r>
              <a:rPr sz="1600" spc="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Font typeface="Arial MT"/>
              <a:buChar char="•"/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30200">
              <a:lnSpc>
                <a:spcPct val="100000"/>
              </a:lnSpc>
              <a:buFont typeface="Arial MT"/>
              <a:buChar char="•"/>
              <a:tabLst>
                <a:tab pos="342900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</a:t>
            </a:r>
            <a:r>
              <a:rPr sz="16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</a:t>
            </a:r>
            <a:r>
              <a:rPr sz="1600" spc="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deadline</a:t>
            </a:r>
            <a:r>
              <a:rPr sz="1600" spc="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45"/>
              </a:spcBef>
              <a:buFont typeface="Arial MT"/>
              <a:buChar char="•"/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150495" indent="-330835">
              <a:lnSpc>
                <a:spcPct val="101000"/>
              </a:lnSpc>
              <a:buFont typeface="Arial MT"/>
              <a:buChar char="•"/>
              <a:tabLst>
                <a:tab pos="342900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</a:t>
            </a:r>
            <a:r>
              <a:rPr sz="16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plans</a:t>
            </a:r>
            <a:r>
              <a:rPr sz="16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6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sz="16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sz="16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</a:t>
            </a:r>
            <a:r>
              <a:rPr sz="16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1600"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</a:t>
            </a:r>
            <a:r>
              <a:rPr sz="16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classes,</a:t>
            </a:r>
            <a:r>
              <a:rPr sz="1600" spc="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</a:t>
            </a:r>
            <a:r>
              <a:rPr sz="1600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sz="16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paths,</a:t>
            </a:r>
            <a:r>
              <a:rPr sz="1600" spc="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parent dashboards.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541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</a:pPr>
            <a:r>
              <a:rPr dirty="0"/>
              <a:t>Timeline</a:t>
            </a:r>
            <a:r>
              <a:rPr spc="95" dirty="0"/>
              <a:t> </a:t>
            </a:r>
            <a:r>
              <a:rPr dirty="0"/>
              <a:t>of</a:t>
            </a:r>
            <a:r>
              <a:rPr spc="50" dirty="0"/>
              <a:t> </a:t>
            </a:r>
            <a:r>
              <a:rPr dirty="0"/>
              <a:t>the</a:t>
            </a:r>
            <a:r>
              <a:rPr spc="85" dirty="0"/>
              <a:t> </a:t>
            </a:r>
            <a:r>
              <a:rPr dirty="0"/>
              <a:t>Project</a:t>
            </a:r>
            <a:r>
              <a:rPr spc="95" dirty="0"/>
              <a:t> </a:t>
            </a:r>
            <a:r>
              <a:rPr dirty="0"/>
              <a:t>(Gantt</a:t>
            </a:r>
            <a:r>
              <a:rPr spc="100" dirty="0"/>
              <a:t> </a:t>
            </a:r>
            <a:r>
              <a:rPr spc="-10" dirty="0"/>
              <a:t>Chart)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7225" y="914400"/>
            <a:ext cx="10896600" cy="38004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4066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</a:pPr>
            <a:r>
              <a:rPr dirty="0">
                <a:latin typeface="Verdana"/>
                <a:cs typeface="Verdana"/>
              </a:rPr>
              <a:t>Future</a:t>
            </a:r>
            <a:r>
              <a:rPr spc="150" dirty="0">
                <a:latin typeface="Verdana"/>
                <a:cs typeface="Verdana"/>
              </a:rPr>
              <a:t> </a:t>
            </a:r>
            <a:r>
              <a:rPr spc="-20" dirty="0">
                <a:latin typeface="Verdana"/>
                <a:cs typeface="Verdana"/>
              </a:rPr>
              <a:t>Plans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9175" y="1215707"/>
            <a:ext cx="6681470" cy="208069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42900" indent="-3302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342900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sz="16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</a:t>
            </a:r>
            <a:r>
              <a:rPr sz="16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</a:t>
            </a:r>
            <a:r>
              <a:rPr sz="16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  <a:r>
              <a:rPr sz="1600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</a:t>
            </a:r>
            <a:r>
              <a:rPr sz="1600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30200">
              <a:lnSpc>
                <a:spcPct val="100000"/>
              </a:lnSpc>
              <a:spcBef>
                <a:spcPts val="1595"/>
              </a:spcBef>
              <a:buFont typeface="Arial MT"/>
              <a:buChar char="•"/>
              <a:tabLst>
                <a:tab pos="342900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</a:t>
            </a:r>
            <a:r>
              <a:rPr sz="1600" spc="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</a:t>
            </a:r>
            <a:r>
              <a:rPr sz="1600" spc="2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</a:t>
            </a:r>
            <a:r>
              <a:rPr sz="1600" spc="2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sz="1600" spc="2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30200">
              <a:lnSpc>
                <a:spcPct val="100000"/>
              </a:lnSpc>
              <a:spcBef>
                <a:spcPts val="1595"/>
              </a:spcBef>
              <a:buFont typeface="Arial MT"/>
              <a:buChar char="•"/>
              <a:tabLst>
                <a:tab pos="342900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</a:t>
            </a:r>
            <a:r>
              <a:rPr sz="16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parental</a:t>
            </a:r>
            <a:r>
              <a:rPr sz="16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sz="1600" spc="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600" spc="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</a:t>
            </a:r>
            <a:r>
              <a:rPr sz="1600" spc="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30200">
              <a:lnSpc>
                <a:spcPct val="100000"/>
              </a:lnSpc>
              <a:spcBef>
                <a:spcPts val="1670"/>
              </a:spcBef>
              <a:buFont typeface="Arial MT"/>
              <a:buChar char="•"/>
              <a:tabLst>
                <a:tab pos="342900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</a:t>
            </a:r>
            <a:r>
              <a:rPr sz="16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sz="1600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r>
              <a:rPr sz="16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600"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</a:t>
            </a:r>
            <a:r>
              <a:rPr sz="1600"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30200">
              <a:lnSpc>
                <a:spcPct val="100000"/>
              </a:lnSpc>
              <a:spcBef>
                <a:spcPts val="1595"/>
              </a:spcBef>
              <a:buFont typeface="Arial MT"/>
              <a:buChar char="•"/>
              <a:tabLst>
                <a:tab pos="342900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</a:t>
            </a:r>
            <a:r>
              <a:rPr sz="1600" spc="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</a:t>
            </a:r>
            <a:r>
              <a:rPr sz="1600" spc="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</a:t>
            </a:r>
            <a:r>
              <a:rPr sz="16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</a:t>
            </a:r>
            <a:r>
              <a:rPr sz="16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541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</a:pPr>
            <a:r>
              <a:rPr dirty="0"/>
              <a:t>References</a:t>
            </a:r>
            <a:r>
              <a:rPr spc="130" dirty="0"/>
              <a:t> </a:t>
            </a:r>
            <a:r>
              <a:rPr dirty="0"/>
              <a:t>(IEEE</a:t>
            </a:r>
            <a:r>
              <a:rPr spc="105" dirty="0"/>
              <a:t> </a:t>
            </a:r>
            <a:r>
              <a:rPr dirty="0"/>
              <a:t>Paper</a:t>
            </a:r>
            <a:r>
              <a:rPr spc="55" dirty="0"/>
              <a:t> </a:t>
            </a:r>
            <a:r>
              <a:rPr spc="-10" dirty="0"/>
              <a:t>format)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892175" y="1311528"/>
            <a:ext cx="10151110" cy="2584682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indent="265430">
              <a:lnSpc>
                <a:spcPts val="1730"/>
              </a:lnSpc>
              <a:spcBef>
                <a:spcPts val="215"/>
              </a:spcBef>
              <a:buAutoNum type="arabicPlain"/>
              <a:tabLst>
                <a:tab pos="278130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</a:t>
            </a:r>
            <a:r>
              <a:rPr sz="16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Resnick,</a:t>
            </a:r>
            <a:r>
              <a:rPr sz="1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Lifelong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Kindergarten:</a:t>
            </a:r>
            <a:r>
              <a:rPr sz="1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Cultivating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Creativity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Projects,</a:t>
            </a:r>
            <a:r>
              <a:rPr sz="1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Passion,</a:t>
            </a:r>
            <a:r>
              <a:rPr sz="1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Peers,</a:t>
            </a:r>
            <a:r>
              <a:rPr sz="1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Play.</a:t>
            </a:r>
            <a:r>
              <a:rPr sz="1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Cambridge,</a:t>
            </a:r>
            <a:r>
              <a:rPr sz="1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MA,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USA:</a:t>
            </a:r>
            <a:r>
              <a:rPr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</a:t>
            </a:r>
            <a:r>
              <a:rPr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Press,</a:t>
            </a:r>
            <a:r>
              <a:rPr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2017.</a:t>
            </a:r>
          </a:p>
          <a:p>
            <a:pPr marL="64769">
              <a:lnSpc>
                <a:spcPts val="1675"/>
              </a:lnSpc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(Key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focus:</a:t>
            </a:r>
            <a:r>
              <a:rPr sz="16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foster</a:t>
            </a:r>
            <a:r>
              <a:rPr sz="1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creativity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kids—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directly</a:t>
            </a:r>
            <a:r>
              <a:rPr sz="16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</a:t>
            </a:r>
            <a:r>
              <a:rPr sz="1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</a:t>
            </a:r>
            <a:r>
              <a:rPr sz="1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project’s</a:t>
            </a:r>
            <a:r>
              <a:rPr sz="1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goals.)</a:t>
            </a: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6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1541780" indent="317500">
              <a:lnSpc>
                <a:spcPts val="1730"/>
              </a:lnSpc>
              <a:spcBef>
                <a:spcPts val="5"/>
              </a:spcBef>
              <a:buAutoNum type="arabicPlain" startAt="2"/>
              <a:tabLst>
                <a:tab pos="330200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Scratch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Team,</a:t>
            </a:r>
            <a:r>
              <a:rPr sz="1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"Creative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Curriculum</a:t>
            </a:r>
            <a:r>
              <a:rPr sz="1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Guide,"</a:t>
            </a:r>
            <a:r>
              <a:rPr sz="16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</a:t>
            </a:r>
            <a:r>
              <a:rPr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</a:t>
            </a:r>
            <a:r>
              <a:rPr sz="16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Lab,</a:t>
            </a:r>
            <a:r>
              <a:rPr sz="1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2021.</a:t>
            </a:r>
            <a:r>
              <a:rPr sz="1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[Online].</a:t>
            </a:r>
            <a:r>
              <a:rPr sz="1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Available: </a:t>
            </a: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https://scratch.mit.edu/educators</a:t>
            </a:r>
          </a:p>
          <a:p>
            <a:pPr marL="64769">
              <a:lnSpc>
                <a:spcPts val="1680"/>
              </a:lnSpc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(Practical</a:t>
            </a:r>
            <a:r>
              <a:rPr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resource:</a:t>
            </a:r>
            <a:r>
              <a:rPr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</a:t>
            </a:r>
            <a:r>
              <a:rPr sz="16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child-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friendly</a:t>
            </a:r>
            <a:r>
              <a:rPr sz="16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sz="16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Scratch.)</a:t>
            </a:r>
          </a:p>
          <a:p>
            <a:pPr>
              <a:lnSpc>
                <a:spcPct val="100000"/>
              </a:lnSpc>
              <a:spcBef>
                <a:spcPts val="1310"/>
              </a:spcBef>
            </a:pPr>
            <a:endParaRPr sz="16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4769" marR="71755" indent="265430">
              <a:lnSpc>
                <a:spcPts val="1650"/>
              </a:lnSpc>
              <a:buAutoNum type="arabicPlain" startAt="3"/>
              <a:tabLst>
                <a:tab pos="330200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Kahoot!,</a:t>
            </a:r>
            <a:r>
              <a:rPr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"Gamification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Education: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sz="16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</a:t>
            </a:r>
            <a:r>
              <a:rPr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Practices,"</a:t>
            </a:r>
            <a:r>
              <a:rPr sz="1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2022.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[Online].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Available:</a:t>
            </a:r>
            <a:r>
              <a:rPr sz="16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https://kahoot.com/blog/</a:t>
            </a:r>
            <a:r>
              <a:rPr sz="1600" spc="-1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(Evidence-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based: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Proves</a:t>
            </a:r>
            <a:r>
              <a:rPr sz="16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gamification</a:t>
            </a:r>
            <a:r>
              <a:rPr sz="16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boosts</a:t>
            </a:r>
            <a:r>
              <a:rPr sz="16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engagement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primary</a:t>
            </a:r>
            <a:r>
              <a:rPr sz="16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education—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</a:t>
            </a:r>
            <a:r>
              <a:rPr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tool’s</a:t>
            </a:r>
            <a:r>
              <a:rPr sz="16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design.)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6225" y="1438275"/>
            <a:ext cx="3886200" cy="39338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658</Words>
  <Application>Microsoft Office PowerPoint</Application>
  <PresentationFormat>Widescreen</PresentationFormat>
  <Paragraphs>83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Arial MT</vt:lpstr>
      <vt:lpstr>Cambria</vt:lpstr>
      <vt:lpstr>Georgia</vt:lpstr>
      <vt:lpstr>Times New Roman</vt:lpstr>
      <vt:lpstr>Verdana</vt:lpstr>
      <vt:lpstr>Office Theme</vt:lpstr>
      <vt:lpstr>CSE7101- Capstone Project Review -3</vt:lpstr>
      <vt:lpstr>Problem Statement:</vt:lpstr>
      <vt:lpstr>Objectives</vt:lpstr>
      <vt:lpstr>Background and Related Work</vt:lpstr>
      <vt:lpstr>Technology Stack Components</vt:lpstr>
      <vt:lpstr>Github Link</vt:lpstr>
      <vt:lpstr>Analysis of Problem Statement</vt:lpstr>
      <vt:lpstr>Proposed Methodology</vt:lpstr>
      <vt:lpstr>Innovation or Novel Contributions</vt:lpstr>
      <vt:lpstr>Timeline of the Project (Gantt Chart)</vt:lpstr>
      <vt:lpstr>Future Plans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CSE7101- Capstone Project Review -3</dc:title>
  <cp:lastModifiedBy>Windows User</cp:lastModifiedBy>
  <cp:revision>2</cp:revision>
  <dcterms:created xsi:type="dcterms:W3CDTF">2025-12-03T14:28:34Z</dcterms:created>
  <dcterms:modified xsi:type="dcterms:W3CDTF">2025-12-03T14:41:22Z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2025-08-13T00:00:00Z</vt:filetime>
  </property>
  <property fmtid="{D5CDD505-2E9C-101B-9397-08002B2CF9AE}" pid="3" name="LastSaved">
    <vt:filetime>2025-12-03T00:00:00Z</vt:filetime>
  </property>
</Properties>
</file>